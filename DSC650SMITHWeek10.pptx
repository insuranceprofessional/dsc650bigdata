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4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8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6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81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4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86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0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61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1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15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743E7-F8CC-AEE6-7CA0-718E947F20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799" r="-1" b="3178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D9574-5917-08E5-12B3-6DF2FA43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0"/>
            <a:ext cx="7213092" cy="5015169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Bank Fraud Risks and Mitigation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5C8A6-FCBB-8635-99E8-14BE1ED39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493" y="3041761"/>
            <a:ext cx="2429605" cy="285620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Champlin Smith</a:t>
            </a:r>
          </a:p>
          <a:p>
            <a:r>
              <a:rPr lang="en-US">
                <a:solidFill>
                  <a:srgbClr val="FFFFFF"/>
                </a:solidFill>
              </a:rPr>
              <a:t>DSC6820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9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0BF1-9CE3-0E8D-A5A9-D36BD01E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FB08-5428-4321-93C3-011BA5777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Problem Statement</a:t>
            </a:r>
          </a:p>
          <a:p>
            <a:r>
              <a:rPr lang="en-US" dirty="0">
                <a:latin typeface="+mj-lt"/>
              </a:rPr>
              <a:t>Rising levels of credit card fraud and suspicious account activity across global operations.</a:t>
            </a:r>
          </a:p>
          <a:p>
            <a:r>
              <a:rPr lang="en-US" dirty="0">
                <a:latin typeface="+mj-lt"/>
              </a:rPr>
              <a:t>Existing fraud systems lack real-time processing and cannot respond fast enough.</a:t>
            </a:r>
          </a:p>
          <a:p>
            <a:r>
              <a:rPr lang="en-US" dirty="0">
                <a:latin typeface="+mj-lt"/>
              </a:rPr>
              <a:t>Customer, vendor, and location data spread across multiple platforms prevents accurate risk evaluation.</a:t>
            </a:r>
          </a:p>
          <a:p>
            <a:r>
              <a:rPr lang="en-US" dirty="0">
                <a:latin typeface="+mj-lt"/>
              </a:rPr>
              <a:t>High false positives and limited contextual enrichment reduce fraud detection accuracy.</a:t>
            </a:r>
          </a:p>
          <a:p>
            <a:r>
              <a:rPr lang="en-US" dirty="0">
                <a:latin typeface="+mj-lt"/>
              </a:rPr>
              <a:t>Increasing Anti-Money Laundering (AML) regulations require full transparency and long-term record retention.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Key Risks</a:t>
            </a:r>
          </a:p>
          <a:p>
            <a:r>
              <a:rPr lang="en-US" dirty="0">
                <a:latin typeface="+mj-lt"/>
              </a:rPr>
              <a:t>Financial Loss</a:t>
            </a:r>
            <a:r>
              <a:rPr lang="en-US" b="1" dirty="0">
                <a:latin typeface="+mj-lt"/>
              </a:rPr>
              <a:t>:</a:t>
            </a:r>
            <a:r>
              <a:rPr lang="en-US" dirty="0">
                <a:latin typeface="+mj-lt"/>
              </a:rPr>
              <a:t> Unauthorized transactions quickly accumulate without real-time blocking.</a:t>
            </a:r>
          </a:p>
          <a:p>
            <a:r>
              <a:rPr lang="en-US" dirty="0">
                <a:latin typeface="+mj-lt"/>
              </a:rPr>
              <a:t>Regulatory Exposure: Failure to meet AML and fraud compliance standards.</a:t>
            </a:r>
          </a:p>
          <a:p>
            <a:r>
              <a:rPr lang="en-US" dirty="0">
                <a:latin typeface="+mj-lt"/>
              </a:rPr>
              <a:t>Customer Impact: Slow detection damages trust and increases dissatisfaction.</a:t>
            </a:r>
          </a:p>
          <a:p>
            <a:r>
              <a:rPr lang="en-US" dirty="0">
                <a:latin typeface="+mj-lt"/>
              </a:rPr>
              <a:t>Operational Inefficiency: Manual reviews and disconnected data systems slow response times.</a:t>
            </a:r>
          </a:p>
          <a:p>
            <a:r>
              <a:rPr lang="en-US" dirty="0">
                <a:latin typeface="+mj-lt"/>
              </a:rPr>
              <a:t>Reputational Damage: Publicized fraud events undermine confidence in the bank’s security.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122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5DA9-96D1-F201-E8B0-11D59BCF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8D0241F-2001-C5F1-700F-E37D7103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2" y="1901311"/>
            <a:ext cx="10469655" cy="4902097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494845-8A2C-2B4B-4131-B1D9B4C9272D}"/>
              </a:ext>
            </a:extLst>
          </p:cNvPr>
          <p:cNvCxnSpPr/>
          <p:nvPr/>
        </p:nvCxnSpPr>
        <p:spPr>
          <a:xfrm>
            <a:off x="1727200" y="3663950"/>
            <a:ext cx="336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DF2168-B1FA-83B8-F418-8F2F6A923853}"/>
              </a:ext>
            </a:extLst>
          </p:cNvPr>
          <p:cNvCxnSpPr/>
          <p:nvPr/>
        </p:nvCxnSpPr>
        <p:spPr>
          <a:xfrm>
            <a:off x="3765550" y="3663950"/>
            <a:ext cx="336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69F9E6-D226-4782-8FE2-E3E506DB3C32}"/>
              </a:ext>
            </a:extLst>
          </p:cNvPr>
          <p:cNvCxnSpPr>
            <a:cxnSpLocks/>
          </p:cNvCxnSpPr>
          <p:nvPr/>
        </p:nvCxnSpPr>
        <p:spPr>
          <a:xfrm>
            <a:off x="3359150" y="2787650"/>
            <a:ext cx="812800" cy="5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BA14F60-C69B-DDF0-82ED-0D1091AA959C}"/>
              </a:ext>
            </a:extLst>
          </p:cNvPr>
          <p:cNvCxnSpPr>
            <a:cxnSpLocks/>
          </p:cNvCxnSpPr>
          <p:nvPr/>
        </p:nvCxnSpPr>
        <p:spPr>
          <a:xfrm flipV="1">
            <a:off x="3289300" y="3943350"/>
            <a:ext cx="99695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10B870E-C72C-C90D-0489-18A1215087E4}"/>
              </a:ext>
            </a:extLst>
          </p:cNvPr>
          <p:cNvCxnSpPr>
            <a:cxnSpLocks/>
          </p:cNvCxnSpPr>
          <p:nvPr/>
        </p:nvCxnSpPr>
        <p:spPr>
          <a:xfrm flipV="1">
            <a:off x="3429000" y="4044950"/>
            <a:ext cx="1041400" cy="129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DDF487-740D-5196-AEF8-309A9EE0F06B}"/>
              </a:ext>
            </a:extLst>
          </p:cNvPr>
          <p:cNvCxnSpPr>
            <a:cxnSpLocks/>
          </p:cNvCxnSpPr>
          <p:nvPr/>
        </p:nvCxnSpPr>
        <p:spPr>
          <a:xfrm flipV="1">
            <a:off x="3451225" y="4197350"/>
            <a:ext cx="1216025" cy="2038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1E7CDE-F13E-37CD-3B0F-D236B594F2C8}"/>
              </a:ext>
            </a:extLst>
          </p:cNvPr>
          <p:cNvCxnSpPr>
            <a:cxnSpLocks/>
          </p:cNvCxnSpPr>
          <p:nvPr/>
        </p:nvCxnSpPr>
        <p:spPr>
          <a:xfrm flipV="1">
            <a:off x="5759449" y="3556000"/>
            <a:ext cx="698501" cy="9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6D8D5D6-7600-957E-D337-9AAADC60C8D3}"/>
              </a:ext>
            </a:extLst>
          </p:cNvPr>
          <p:cNvCxnSpPr>
            <a:cxnSpLocks/>
          </p:cNvCxnSpPr>
          <p:nvPr/>
        </p:nvCxnSpPr>
        <p:spPr>
          <a:xfrm flipV="1">
            <a:off x="7670800" y="2717800"/>
            <a:ext cx="869950" cy="654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867A7FD-7915-8BA1-2533-E39E80BCCFD8}"/>
              </a:ext>
            </a:extLst>
          </p:cNvPr>
          <p:cNvCxnSpPr>
            <a:cxnSpLocks/>
          </p:cNvCxnSpPr>
          <p:nvPr/>
        </p:nvCxnSpPr>
        <p:spPr>
          <a:xfrm>
            <a:off x="7670800" y="3549650"/>
            <a:ext cx="92710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C4A296-545F-7B85-6D6C-DD6E5833A25C}"/>
              </a:ext>
            </a:extLst>
          </p:cNvPr>
          <p:cNvCxnSpPr>
            <a:cxnSpLocks/>
          </p:cNvCxnSpPr>
          <p:nvPr/>
        </p:nvCxnSpPr>
        <p:spPr>
          <a:xfrm>
            <a:off x="7670800" y="3746500"/>
            <a:ext cx="869950" cy="850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A0E7CED-92A2-89BA-351B-1978E7C595CB}"/>
              </a:ext>
            </a:extLst>
          </p:cNvPr>
          <p:cNvSpPr txBox="1"/>
          <p:nvPr/>
        </p:nvSpPr>
        <p:spPr>
          <a:xfrm>
            <a:off x="2463800" y="2052789"/>
            <a:ext cx="1403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RDBMS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57E669-A279-BEEB-B958-CAE21877F3C8}"/>
              </a:ext>
            </a:extLst>
          </p:cNvPr>
          <p:cNvSpPr txBox="1"/>
          <p:nvPr/>
        </p:nvSpPr>
        <p:spPr>
          <a:xfrm>
            <a:off x="2463800" y="3888445"/>
            <a:ext cx="768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RDBMS</a:t>
            </a:r>
          </a:p>
        </p:txBody>
      </p:sp>
    </p:spTree>
    <p:extLst>
      <p:ext uri="{BB962C8B-B14F-4D97-AF65-F5344CB8AC3E}">
        <p14:creationId xmlns:p14="http://schemas.microsoft.com/office/powerpoint/2010/main" val="23951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EF48-BAF6-F965-02EE-8C186F5F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97113-88C4-0DBD-53DE-93344B3C6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89" y="2003260"/>
            <a:ext cx="11059811" cy="4782312"/>
          </a:xfrm>
        </p:spPr>
        <p:txBody>
          <a:bodyPr>
            <a:noAutofit/>
          </a:bodyPr>
          <a:lstStyle/>
          <a:p>
            <a:r>
              <a:rPr lang="en-US" sz="1200" b="1" dirty="0"/>
              <a:t>Regulatory &amp; Compliance</a:t>
            </a:r>
          </a:p>
          <a:p>
            <a:r>
              <a:rPr lang="en-US" sz="1200" dirty="0"/>
              <a:t>Real-time detection of illegal or suspicious activity</a:t>
            </a:r>
          </a:p>
          <a:p>
            <a:r>
              <a:rPr lang="en-US" sz="1200" dirty="0"/>
              <a:t>Long-term, fault-tolerant storage for audits and regulatory reporting</a:t>
            </a:r>
          </a:p>
          <a:p>
            <a:r>
              <a:rPr lang="en-US" sz="1200" dirty="0"/>
              <a:t>Full traceability reduces compliance risk</a:t>
            </a:r>
          </a:p>
          <a:p>
            <a:r>
              <a:rPr lang="en-US" sz="1200" b="1" dirty="0"/>
              <a:t>Operational &amp; Financial</a:t>
            </a:r>
          </a:p>
          <a:p>
            <a:r>
              <a:rPr lang="en-US" sz="1200" dirty="0"/>
              <a:t>Reduces manual investigation and operational costs</a:t>
            </a:r>
          </a:p>
          <a:p>
            <a:r>
              <a:rPr lang="en-US" sz="1200" dirty="0"/>
              <a:t>Failure-tolerant storage ensures reliable analytics and minimal downtime</a:t>
            </a:r>
          </a:p>
          <a:p>
            <a:r>
              <a:rPr lang="en-US" sz="1200" dirty="0"/>
              <a:t>Saves money by stopping actual losses</a:t>
            </a:r>
          </a:p>
          <a:p>
            <a:r>
              <a:rPr lang="en-US" sz="1200" b="1" dirty="0"/>
              <a:t>Customer &amp; Business</a:t>
            </a:r>
          </a:p>
          <a:p>
            <a:r>
              <a:rPr lang="en-US" sz="1200" dirty="0"/>
              <a:t>Improves customer experience by blocking fraud in real time</a:t>
            </a:r>
          </a:p>
          <a:p>
            <a:r>
              <a:rPr lang="en-US" sz="1200" dirty="0"/>
              <a:t>Reduces false positives, protecting legitimate transactions</a:t>
            </a:r>
          </a:p>
          <a:p>
            <a:r>
              <a:rPr lang="en-US" sz="1200" dirty="0"/>
              <a:t>Strengthens trust, loyalty, and retention</a:t>
            </a:r>
          </a:p>
        </p:txBody>
      </p:sp>
    </p:spTree>
    <p:extLst>
      <p:ext uri="{BB962C8B-B14F-4D97-AF65-F5344CB8AC3E}">
        <p14:creationId xmlns:p14="http://schemas.microsoft.com/office/powerpoint/2010/main" val="4286384834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221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Batang</vt:lpstr>
      <vt:lpstr>Arial</vt:lpstr>
      <vt:lpstr>Avenir Next LT Pro Light</vt:lpstr>
      <vt:lpstr>AlignmentVTI</vt:lpstr>
      <vt:lpstr>Bank Fraud Risks and Mitigation</vt:lpstr>
      <vt:lpstr>Risks</vt:lpstr>
      <vt:lpstr>Architecture</vt:lpstr>
      <vt:lpstr>Benefits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Champlin Smith</dc:creator>
  <cp:lastModifiedBy>Champlin Smith</cp:lastModifiedBy>
  <cp:revision>5</cp:revision>
  <dcterms:created xsi:type="dcterms:W3CDTF">2025-11-17T03:04:12Z</dcterms:created>
  <dcterms:modified xsi:type="dcterms:W3CDTF">2025-11-17T04:45:42Z</dcterms:modified>
</cp:coreProperties>
</file>